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</p:sldMasterIdLst>
  <p:notesMasterIdLst>
    <p:notesMasterId r:id="rId16"/>
  </p:notesMasterIdLst>
  <p:sldIdLst>
    <p:sldId id="271" r:id="rId2"/>
    <p:sldId id="257" r:id="rId3"/>
    <p:sldId id="258" r:id="rId4"/>
    <p:sldId id="270" r:id="rId5"/>
    <p:sldId id="260" r:id="rId6"/>
    <p:sldId id="261" r:id="rId7"/>
    <p:sldId id="262" r:id="rId8"/>
    <p:sldId id="263" r:id="rId9"/>
    <p:sldId id="273" r:id="rId10"/>
    <p:sldId id="265" r:id="rId11"/>
    <p:sldId id="266" r:id="rId12"/>
    <p:sldId id="267" r:id="rId13"/>
    <p:sldId id="274" r:id="rId14"/>
    <p:sldId id="272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07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2803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5474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299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2316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106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1334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363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468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429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270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425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0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0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6B2F224A-C4F1-4981-28F9-D9EBB5383C5B}"/>
              </a:ext>
            </a:extLst>
          </p:cNvPr>
          <p:cNvSpPr/>
          <p:nvPr/>
        </p:nvSpPr>
        <p:spPr>
          <a:xfrm>
            <a:off x="1950720" y="82600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Akıllı IoT Ev Sistemi</a:t>
            </a:r>
            <a:endParaRPr lang="en-US" sz="4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E6D0E2F-3959-93D3-DCC4-DB6F06ED8C4D}"/>
              </a:ext>
            </a:extLst>
          </p:cNvPr>
          <p:cNvSpPr/>
          <p:nvPr/>
        </p:nvSpPr>
        <p:spPr>
          <a:xfrm>
            <a:off x="2926080" y="194157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Bulut Bilişim Projesi</a:t>
            </a:r>
            <a:endParaRPr lang="en-US" sz="24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5EE94D45-0878-C4C8-096A-7B569099D1B1}"/>
              </a:ext>
            </a:extLst>
          </p:cNvPr>
          <p:cNvSpPr/>
          <p:nvPr/>
        </p:nvSpPr>
        <p:spPr>
          <a:xfrm>
            <a:off x="3345688" y="32644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A0B9ADA-C1A8-E364-3C69-9695FDCCF6A4}"/>
              </a:ext>
            </a:extLst>
          </p:cNvPr>
          <p:cNvSpPr/>
          <p:nvPr/>
        </p:nvSpPr>
        <p:spPr>
          <a:xfrm>
            <a:off x="941832" y="28681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/>
              <a:t>Abdulber Alsebai</a:t>
            </a:r>
            <a:br>
              <a:rPr lang="en-US" sz="2400" dirty="0"/>
            </a:br>
            <a:r>
              <a:rPr lang="en-US" sz="2400" dirty="0"/>
              <a:t>Khaled Salam</a:t>
            </a:r>
            <a:endParaRPr lang="tr-TR" sz="2400" dirty="0"/>
          </a:p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843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96696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24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Tanımı &amp; Kullanıcılar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196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Diyagramı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587752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6151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Servis Modeli (IaaS)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410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Tasarımı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4178808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206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Tasarımı (VPC)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54880" y="996696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024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&amp; Mikroservisler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755648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54880" y="1792224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8196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Orkestrasyon (Kubernetes)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551176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4880" y="2587752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6151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Tutarlılığı &amp; Replikasyon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346704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3410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IAM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4142232"/>
            <a:ext cx="50292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4880" y="4178808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4206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Zorluklar, Trade-off'lar &amp; Ölçeklenebilirlik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Sistem Tanımı &amp; Kullanıcılar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384048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SİSTEM NEDİR?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IoT Ev Sistemi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kullanıcılara evlerindeki cihazları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uzaktan kontrol etme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imkânı sunan bulut tabanlı bir platformdur.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Uzaktan cihaz kontrolü (ışık, klima, kilit)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Canlı kamera izleme &amp; video arşivi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Sensör takibi (sıcaklık, hareket, nem)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Otomasyon kuralları &amp; anlık bildirimler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Enerji tüketim raporları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3840480" cy="8229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Ev Sahibi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Tüm yetki – cihaz yönetimi, kural oluşturma, kamera izleme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755648"/>
            <a:ext cx="3840480" cy="822960"/>
          </a:xfrm>
          <a:prstGeom prst="rect">
            <a:avLst/>
          </a:prstGeom>
          <a:solidFill>
            <a:schemeClr val="bg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3776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Aile Üyesi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39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erişim – RBAC</a:t>
            </a:r>
            <a:r>
              <a:rPr lang="ar-SY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/>
              <a:t>Role-Based Access Control</a:t>
            </a:r>
            <a:endParaRPr lang="ar-SY" sz="11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ile belirli cihazlar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88336"/>
            <a:ext cx="3840480" cy="822960"/>
          </a:xfrm>
          <a:prstGeom prst="rect">
            <a:avLst/>
          </a:prstGeom>
          <a:solidFill>
            <a:schemeClr val="bg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7760" y="2734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Teknik 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072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Altyapı, güvenlik politikaları, firmware yönetimi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621024"/>
            <a:ext cx="3840480" cy="822960"/>
          </a:xfrm>
          <a:prstGeom prst="rect">
            <a:avLst/>
          </a:prstGeom>
          <a:solidFill>
            <a:schemeClr val="bg2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37760" y="3666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Servis Sağlayıcı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taraf entegrasyonu (güvenlik şirketi vb.)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371BA3-E522-77E5-C596-E90440D8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93" y="796372"/>
            <a:ext cx="6048413" cy="4074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17BF9-58F7-047D-BD2E-0C1FB5D44C8E}"/>
              </a:ext>
            </a:extLst>
          </p:cNvPr>
          <p:cNvSpPr txBox="1"/>
          <p:nvPr/>
        </p:nvSpPr>
        <p:spPr>
          <a:xfrm>
            <a:off x="1834896" y="1026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Smart IoT Home Cloud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1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Bulut Servis Modeli – IaaS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91840" y="914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Hizmet Olarak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 / SQS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12012" y="868680"/>
            <a:ext cx="2651760" cy="1737360"/>
          </a:xfrm>
          <a:prstGeom prst="rect">
            <a:avLst/>
          </a:prstGeom>
          <a:solidFill>
            <a:schemeClr val="bg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12012" y="914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12012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Hizmet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12012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Bu projede kullanıldı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EC2, VPC, 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IaaS Seçildi?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Tam Kontrol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30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Ağ,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depolama yapılandırmasında tam esneklik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114800" cy="73152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Kubernetes &amp; Docker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630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tabanlı dağıtım için altyapı kontrolü şart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4114800" cy="73152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4178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Maliyet Optimizasyonu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4714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 err="1"/>
              <a:t>Kaynakların</a:t>
            </a:r>
            <a:r>
              <a:rPr lang="en-US" sz="1050" dirty="0"/>
              <a:t> </a:t>
            </a:r>
            <a:r>
              <a:rPr lang="en-US" sz="1050" dirty="0" err="1"/>
              <a:t>esnek</a:t>
            </a:r>
            <a:r>
              <a:rPr lang="en-US" sz="1050" dirty="0"/>
              <a:t> </a:t>
            </a:r>
            <a:r>
              <a:rPr lang="en-US" sz="1050" dirty="0" err="1"/>
              <a:t>ve</a:t>
            </a:r>
            <a:r>
              <a:rPr lang="en-US" sz="1050" dirty="0"/>
              <a:t> </a:t>
            </a:r>
            <a:r>
              <a:rPr lang="en-US" sz="1050" dirty="0" err="1"/>
              <a:t>verimli</a:t>
            </a:r>
            <a:r>
              <a:rPr lang="en-US" sz="1050" dirty="0"/>
              <a:t> </a:t>
            </a:r>
            <a:r>
              <a:rPr lang="en-US" sz="1050" dirty="0" err="1"/>
              <a:t>yönetimi</a:t>
            </a:r>
            <a:endParaRPr lang="en-US" sz="105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133088"/>
            <a:ext cx="4114800" cy="73152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4178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Ölçeklenebilirlik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4714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ile ihtiyaca göre kaynak artırımı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Depolama Tasarımı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Depolama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932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893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Video kayıtları, log dosyaları, yedekler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Sonsuz </a:t>
            </a:r>
            <a:r>
              <a:rPr lang="en-US" sz="110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ölçeklenebilirlik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8046720" cy="109728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04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Depolama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6609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İşletim sistemi, PostgreSQL veritabanı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Milisaniye altı </a:t>
            </a:r>
            <a:r>
              <a:rPr lang="en-US" sz="110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</a:t>
            </a: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8046720" cy="109728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Depolama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0325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Paylaşılan config dosyaları, log arşivleri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Çok pod erişimi, otomatik ölçekleme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Ağ Tasarımı (VPC)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9377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 Subnet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•  Application Load Balancer  •  Internet Gateway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49377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Pods (Mikroservisler)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673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782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796444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336819"/>
            <a:ext cx="2743200" cy="46986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03620" y="2399831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Konteyner &amp; Mikroservis Mimarisi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594360"/>
          </a:xfrm>
          <a:prstGeom prst="rect">
            <a:avLst/>
          </a:prstGeom>
          <a:solidFill>
            <a:schemeClr val="bg2"/>
          </a:solidFill>
          <a:ln w="12700">
            <a:solidFill>
              <a:srgbClr val="249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Docker Seçildi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84124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Taşınabilirlik – dev = prod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11556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Düşük overhead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38988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Hızlı başlatma (saniye)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6642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Mikroservisler (Her biri bağımsız Docker container)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2651760" cy="1143000"/>
          </a:xfrm>
          <a:prstGeom prst="rect">
            <a:avLst/>
          </a:prstGeom>
          <a:solidFill>
            <a:schemeClr val="bg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ar-SY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91840" y="2331720"/>
            <a:ext cx="2651760" cy="114300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832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 Service</a:t>
            </a:r>
            <a:endParaRPr lang="tr-TR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Cihaz 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8328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6480" y="2331720"/>
            <a:ext cx="2651760" cy="1143000"/>
          </a:xfrm>
          <a:prstGeom prst="rect">
            <a:avLst/>
          </a:prstGeom>
          <a:solidFill>
            <a:schemeClr val="bg2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Camera Service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630168"/>
            <a:ext cx="2651760" cy="1143000"/>
          </a:xfrm>
          <a:prstGeom prst="rect">
            <a:avLst/>
          </a:prstGeom>
          <a:solidFill>
            <a:schemeClr val="bg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3721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Notify Service</a:t>
            </a:r>
            <a:endParaRPr lang="tr-TR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Bildirim 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91840" y="3630168"/>
            <a:ext cx="2651760" cy="1143000"/>
          </a:xfrm>
          <a:prstGeom prst="rect">
            <a:avLst/>
          </a:prstGeom>
          <a:solidFill>
            <a:schemeClr val="bg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83280" y="3721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79A93C-5E52-7B1C-819E-A03DD9E50D62}"/>
              </a:ext>
            </a:extLst>
          </p:cNvPr>
          <p:cNvSpPr txBox="1"/>
          <p:nvPr/>
        </p:nvSpPr>
        <p:spPr>
          <a:xfrm>
            <a:off x="5562600" y="86555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VM → Heavy &amp; slower</a:t>
            </a:r>
            <a:br>
              <a:rPr lang="en-US" dirty="0"/>
            </a:br>
            <a:r>
              <a:rPr lang="en-US" dirty="0"/>
              <a:t>Container → Lightweight &amp; faster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BAA957-918D-E199-0AED-E33A8908BC9C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Orkestrasyon – Kubernetes (EKS)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157BBA-404E-7188-6160-C542B3BBC941}"/>
              </a:ext>
            </a:extLst>
          </p:cNvPr>
          <p:cNvSpPr/>
          <p:nvPr/>
        </p:nvSpPr>
        <p:spPr>
          <a:xfrm>
            <a:off x="457200" y="667512"/>
            <a:ext cx="82296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34734C-DB6F-8DFB-BE78-DB18A2E9E3A5}"/>
              </a:ext>
            </a:extLst>
          </p:cNvPr>
          <p:cNvSpPr/>
          <p:nvPr/>
        </p:nvSpPr>
        <p:spPr>
          <a:xfrm>
            <a:off x="457200" y="868680"/>
            <a:ext cx="411480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485910-C66D-3F89-CBBA-82264B7E5ACB}"/>
              </a:ext>
            </a:extLst>
          </p:cNvPr>
          <p:cNvSpPr/>
          <p:nvPr/>
        </p:nvSpPr>
        <p:spPr>
          <a:xfrm>
            <a:off x="457200" y="868680"/>
            <a:ext cx="4114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C97F31-925E-2E15-108D-E4582772EBC8}"/>
              </a:ext>
            </a:extLst>
          </p:cNvPr>
          <p:cNvSpPr/>
          <p:nvPr/>
        </p:nvSpPr>
        <p:spPr>
          <a:xfrm>
            <a:off x="59436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FB96F9-57A1-50CD-1050-F7F40AA9ED2F}"/>
              </a:ext>
            </a:extLst>
          </p:cNvPr>
          <p:cNvSpPr/>
          <p:nvPr/>
        </p:nvSpPr>
        <p:spPr>
          <a:xfrm>
            <a:off x="594360" y="143560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Trafik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arttığında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konteyner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sayısını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otomatik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artırır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1CBD45-D698-4EBE-EE81-7ED6A25F4064}"/>
              </a:ext>
            </a:extLst>
          </p:cNvPr>
          <p:cNvSpPr/>
          <p:nvPr/>
        </p:nvSpPr>
        <p:spPr>
          <a:xfrm>
            <a:off x="4846320" y="868680"/>
            <a:ext cx="411480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7B0852D-4510-E181-E3E8-D5ED13E65EEA}"/>
              </a:ext>
            </a:extLst>
          </p:cNvPr>
          <p:cNvSpPr/>
          <p:nvPr/>
        </p:nvSpPr>
        <p:spPr>
          <a:xfrm>
            <a:off x="4846320" y="868680"/>
            <a:ext cx="4114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F4878B1-1560-A5D9-F119-4CBF3299B7DE}"/>
              </a:ext>
            </a:extLst>
          </p:cNvPr>
          <p:cNvSpPr/>
          <p:nvPr/>
        </p:nvSpPr>
        <p:spPr>
          <a:xfrm>
            <a:off x="498348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Self-Healing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88AB50-7AB8-5B93-1F0A-EAE4CD9A9095}"/>
              </a:ext>
            </a:extLst>
          </p:cNvPr>
          <p:cNvSpPr/>
          <p:nvPr/>
        </p:nvSpPr>
        <p:spPr>
          <a:xfrm>
            <a:off x="4983480" y="143560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600" dirty="0" err="1"/>
              <a:t>Çöken</a:t>
            </a:r>
            <a:r>
              <a:rPr lang="en-US" sz="1600" dirty="0"/>
              <a:t> container</a:t>
            </a:r>
            <a:r>
              <a:rPr lang="ar-SY" sz="1600" dirty="0"/>
              <a:t> </a:t>
            </a:r>
            <a:r>
              <a:rPr lang="en-US" sz="1600" dirty="0" err="1"/>
              <a:t>otomatik</a:t>
            </a:r>
            <a:r>
              <a:rPr lang="en-US" sz="1600" dirty="0"/>
              <a:t> </a:t>
            </a:r>
            <a:r>
              <a:rPr lang="en-US" sz="1600" dirty="0" err="1"/>
              <a:t>olarak</a:t>
            </a:r>
            <a:r>
              <a:rPr lang="en-US" sz="1600" dirty="0"/>
              <a:t> </a:t>
            </a:r>
            <a:r>
              <a:rPr lang="en-US" sz="1600" dirty="0" err="1"/>
              <a:t>yeniden</a:t>
            </a:r>
            <a:r>
              <a:rPr lang="en-US" sz="1600" dirty="0"/>
              <a:t> </a:t>
            </a:r>
            <a:r>
              <a:rPr lang="en-US" sz="1600" dirty="0" err="1"/>
              <a:t>başlatılır</a:t>
            </a:r>
            <a:r>
              <a:rPr lang="en-US" sz="1600" dirty="0"/>
              <a:t>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5FCAB29-3F50-B5E7-C2C0-40B1B10F587C}"/>
              </a:ext>
            </a:extLst>
          </p:cNvPr>
          <p:cNvSpPr/>
          <p:nvPr/>
        </p:nvSpPr>
        <p:spPr>
          <a:xfrm>
            <a:off x="457200" y="2953512"/>
            <a:ext cx="411480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6EC7A8F-308E-69A3-AF96-8397849AFA79}"/>
              </a:ext>
            </a:extLst>
          </p:cNvPr>
          <p:cNvSpPr/>
          <p:nvPr/>
        </p:nvSpPr>
        <p:spPr>
          <a:xfrm>
            <a:off x="457200" y="2979420"/>
            <a:ext cx="4114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121C4B-FC6D-EFE2-227F-F904FC3E7CA9}"/>
              </a:ext>
            </a:extLst>
          </p:cNvPr>
          <p:cNvSpPr/>
          <p:nvPr/>
        </p:nvSpPr>
        <p:spPr>
          <a:xfrm>
            <a:off x="457200" y="3008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Load Balancing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144661-A428-BE84-3FB8-AED59B7614E4}"/>
              </a:ext>
            </a:extLst>
          </p:cNvPr>
          <p:cNvSpPr/>
          <p:nvPr/>
        </p:nvSpPr>
        <p:spPr>
          <a:xfrm>
            <a:off x="457200" y="34259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/>
              <a:t>Trafik</a:t>
            </a:r>
            <a:r>
              <a:rPr lang="en-US" sz="1600" dirty="0"/>
              <a:t> </a:t>
            </a:r>
            <a:r>
              <a:rPr lang="en-US" sz="1600" dirty="0" err="1"/>
              <a:t>container’lar</a:t>
            </a:r>
            <a:r>
              <a:rPr lang="en-US" sz="1600" dirty="0"/>
              <a:t> </a:t>
            </a:r>
            <a:r>
              <a:rPr lang="en-US" sz="1600" dirty="0" err="1"/>
              <a:t>arasında</a:t>
            </a:r>
            <a:r>
              <a:rPr lang="en-US" sz="1600" dirty="0"/>
              <a:t> </a:t>
            </a:r>
            <a:r>
              <a:rPr lang="en-US" sz="1600" dirty="0" err="1"/>
              <a:t>dengeli</a:t>
            </a:r>
            <a:r>
              <a:rPr lang="en-US" sz="1600" dirty="0"/>
              <a:t> </a:t>
            </a:r>
            <a:r>
              <a:rPr lang="en-US" sz="1600" dirty="0" err="1"/>
              <a:t>dağıtılır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057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Veri Tutarlılığı &amp; Replikasyon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886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 Teoremi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onsistency  +  </a:t>
            </a: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vailability  +  </a:t>
            </a: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artition Tolerance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r>
              <a:rPr lang="ar-SY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anda </a:t>
            </a:r>
            <a:r>
              <a:rPr lang="en-US" sz="12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edilebilir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</a:t>
            </a:r>
            <a:r>
              <a:rPr lang="tr-TR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projede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 seçildi (Erişilebilirlik </a:t>
            </a:r>
            <a:r>
              <a:rPr lang="en-US" sz="12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öncelikli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192024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868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Senkron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Replikasyon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8032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Güçlü tutarlılık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 kaybı yok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9385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Yüksek gecikme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22585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822960"/>
            <a:ext cx="1920240" cy="1920240"/>
          </a:xfrm>
          <a:prstGeom prst="rect">
            <a:avLst/>
          </a:prstGeom>
          <a:solidFill>
            <a:schemeClr val="bg2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31152" y="868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Asenkron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Replikasyon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1152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Düşük gecikme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Yüksek throughput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31152" y="19385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Kısa tutarsızlık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31152" y="22585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IoT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sensör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verisi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36420" y="29032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Kategorisi → Tutarlılık Stratejisi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743494"/>
              </p:ext>
            </p:extLst>
          </p:nvPr>
        </p:nvGraphicFramePr>
        <p:xfrm>
          <a:off x="1266092" y="3310128"/>
          <a:ext cx="4017733" cy="932688"/>
        </p:xfrm>
        <a:graphic>
          <a:graphicData uri="http://schemas.openxmlformats.org/drawingml/2006/table">
            <a:tbl>
              <a:tblPr/>
              <a:tblGrid>
                <a:gridCol w="2232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Tipi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auth / şifre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(Senkron)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sensör telemetrisi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(Asenkron)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Güvenlik &amp; IAM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804672"/>
            <a:ext cx="1371600" cy="137160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841248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38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br>
              <a:rPr lang="ar-AE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/>
              <a:t>Confidentiality</a:t>
            </a:r>
          </a:p>
        </p:txBody>
      </p:sp>
      <p:sp>
        <p:nvSpPr>
          <p:cNvPr id="7" name="Text 5"/>
          <p:cNvSpPr/>
          <p:nvPr/>
        </p:nvSpPr>
        <p:spPr>
          <a:xfrm>
            <a:off x="2975317" y="392559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804672"/>
            <a:ext cx="1371600" cy="1371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841248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56313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Bütünlük</a:t>
            </a:r>
            <a:br>
              <a:rPr lang="ar-AE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/>
              <a:t>Integrity</a:t>
            </a:r>
          </a:p>
        </p:txBody>
      </p:sp>
      <p:sp>
        <p:nvSpPr>
          <p:cNvPr id="11" name="Text 9"/>
          <p:cNvSpPr/>
          <p:nvPr/>
        </p:nvSpPr>
        <p:spPr>
          <a:xfrm>
            <a:off x="3291840" y="25786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804672"/>
            <a:ext cx="1371600" cy="1371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841248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26480" y="260275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Erişilebilirlik</a:t>
            </a:r>
            <a:br>
              <a:rPr lang="ar-AE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/>
              <a:t>Availability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328551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– Rol Tabanlı Erişim Kontrolü (RBAC)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700760"/>
              </p:ext>
            </p:extLst>
          </p:nvPr>
        </p:nvGraphicFramePr>
        <p:xfrm>
          <a:off x="365760" y="3630168"/>
          <a:ext cx="6583680" cy="1295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Sahibi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cihazlar, kameralar, otomasyon, yönetim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Aile Üyesi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Belirli cihazlar (RBAC ile kısıtlı)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Altyapı, güvenlik politikaları, firmware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Servis Sağlayıcı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okunur + belirli API endpoint'leri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Zorluklar, Trade-off'lar &amp; Ölçeklenebilirlik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530352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8778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Performans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Yüksek </a:t>
            </a:r>
            <a:r>
              <a:rPr lang="en-US" sz="1400" dirty="0" err="1"/>
              <a:t>performans</a:t>
            </a:r>
            <a:r>
              <a:rPr lang="en-US" sz="1400" dirty="0"/>
              <a:t> </a:t>
            </a:r>
            <a:r>
              <a:rPr lang="en-US" sz="1400" dirty="0" err="1"/>
              <a:t>daha</a:t>
            </a:r>
            <a:r>
              <a:rPr lang="en-US" sz="1400" dirty="0"/>
              <a:t> </a:t>
            </a:r>
            <a:r>
              <a:rPr lang="en-US" sz="1400" dirty="0" err="1"/>
              <a:t>yüksek</a:t>
            </a:r>
            <a:r>
              <a:rPr lang="en-US" sz="1400" dirty="0"/>
              <a:t> </a:t>
            </a:r>
            <a:r>
              <a:rPr lang="en-US" sz="1400" dirty="0" err="1"/>
              <a:t>maliyet</a:t>
            </a:r>
            <a:r>
              <a:rPr lang="en-US" sz="1400" dirty="0"/>
              <a:t> </a:t>
            </a:r>
            <a:r>
              <a:rPr lang="en-US" sz="1400" dirty="0" err="1"/>
              <a:t>gerektirir</a:t>
            </a:r>
            <a:r>
              <a:rPr lang="en-US" sz="1400" dirty="0"/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30352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993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Tutarlılık vs Erişilebilirlik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35000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Kritik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veriler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için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güçlü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tutarlılık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IoT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verileri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için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eventual consistency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tercih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edildi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530352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4655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Kubernetes </a:t>
            </a:r>
            <a:r>
              <a:rPr lang="en-US" sz="1400" dirty="0" err="1"/>
              <a:t>ve</a:t>
            </a:r>
            <a:r>
              <a:rPr lang="en-US" sz="1400" dirty="0"/>
              <a:t> PostgreSQL </a:t>
            </a:r>
            <a:r>
              <a:rPr lang="en-US" sz="1400" dirty="0" err="1"/>
              <a:t>kullanılarak</a:t>
            </a:r>
            <a:r>
              <a:rPr lang="en-US" sz="1400" dirty="0"/>
              <a:t> </a:t>
            </a:r>
            <a:r>
              <a:rPr lang="en-US" sz="1400" dirty="0" err="1"/>
              <a:t>taşınabilirlik</a:t>
            </a:r>
            <a:r>
              <a:rPr lang="en-US" sz="1400" dirty="0"/>
              <a:t> </a:t>
            </a:r>
            <a:r>
              <a:rPr lang="en-US" sz="1400" dirty="0" err="1"/>
              <a:t>artırıldı</a:t>
            </a:r>
            <a:r>
              <a:rPr lang="en-US" sz="1400" dirty="0"/>
              <a:t>.</a:t>
            </a:r>
          </a:p>
        </p:txBody>
      </p:sp>
      <p:sp>
        <p:nvSpPr>
          <p:cNvPr id="16" name="Text 14"/>
          <p:cNvSpPr/>
          <p:nvPr/>
        </p:nvSpPr>
        <p:spPr>
          <a:xfrm>
            <a:off x="6172200" y="804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Ölçeklenebilirlik Stratejisi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1261872"/>
            <a:ext cx="256032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33502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mikroservisler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kolayca çoğaltılabilir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212848"/>
            <a:ext cx="256032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Kubernetes Auto-Scaling</a:t>
            </a:r>
            <a:br>
              <a:rPr lang="en-US" sz="1100" dirty="0"/>
            </a:br>
            <a:r>
              <a:rPr lang="en-US" sz="1100" dirty="0" err="1"/>
              <a:t>trafik</a:t>
            </a:r>
            <a:r>
              <a:rPr lang="en-US" sz="1100" dirty="0"/>
              <a:t> </a:t>
            </a:r>
            <a:r>
              <a:rPr lang="en-US" sz="1100" dirty="0" err="1"/>
              <a:t>arttığında</a:t>
            </a:r>
            <a:r>
              <a:rPr lang="en-US" sz="1100" dirty="0"/>
              <a:t> </a:t>
            </a:r>
            <a:r>
              <a:rPr lang="en-US" sz="1100" dirty="0" err="1"/>
              <a:t>otomatik</a:t>
            </a:r>
            <a:r>
              <a:rPr lang="en-US" sz="1100" dirty="0"/>
              <a:t> </a:t>
            </a:r>
            <a:r>
              <a:rPr lang="en-US" sz="1100" dirty="0" err="1"/>
              <a:t>ölçekleme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163824"/>
            <a:ext cx="256032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2369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Database Read Replicas</a:t>
            </a:r>
            <a:br>
              <a:rPr lang="en-US" sz="1100" dirty="0"/>
            </a:br>
            <a:r>
              <a:rPr lang="en-US" sz="1100" dirty="0"/>
              <a:t> </a:t>
            </a:r>
            <a:r>
              <a:rPr lang="en-US" sz="1100" dirty="0" err="1"/>
              <a:t>yük</a:t>
            </a:r>
            <a:r>
              <a:rPr lang="en-US" sz="1100" dirty="0"/>
              <a:t> </a:t>
            </a:r>
            <a:r>
              <a:rPr lang="en-US" sz="1100" dirty="0" err="1"/>
              <a:t>dağılımı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56AD7CC-01C9-9C88-A5AE-EFB8FF982955}"/>
              </a:ext>
            </a:extLst>
          </p:cNvPr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Sonu</a:t>
            </a:r>
            <a:r>
              <a:rPr lang="tr-TR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endParaRPr lang="en-US" sz="36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D59257F-2FAF-EC6D-1E8D-D5B86E7C5326}"/>
              </a:ext>
            </a:extLst>
          </p:cNvPr>
          <p:cNvSpPr/>
          <p:nvPr/>
        </p:nvSpPr>
        <p:spPr>
          <a:xfrm>
            <a:off x="365760" y="777240"/>
            <a:ext cx="841248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46477AD-B50C-AA36-D605-497957963493}"/>
              </a:ext>
            </a:extLst>
          </p:cNvPr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687E755-9D5B-B03B-B6F2-6B21F70FFA9B}"/>
              </a:ext>
            </a:extLst>
          </p:cNvPr>
          <p:cNvSpPr/>
          <p:nvPr/>
        </p:nvSpPr>
        <p:spPr>
          <a:xfrm>
            <a:off x="475488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IaaS (AWS)</a:t>
            </a:r>
            <a:endParaRPr lang="en-US" sz="15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9515BB3-3B9C-691B-EA13-5D6078C880A8}"/>
              </a:ext>
            </a:extLst>
          </p:cNvPr>
          <p:cNvSpPr/>
          <p:nvPr/>
        </p:nvSpPr>
        <p:spPr>
          <a:xfrm>
            <a:off x="475488" y="1517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Altyapı üzerinde tam kontrol, maliyet optimizasyonu</a:t>
            </a:r>
            <a:endParaRPr lang="en-US" sz="12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B424A31-7230-6110-2B2E-09EC47BEF280}"/>
              </a:ext>
            </a:extLst>
          </p:cNvPr>
          <p:cNvSpPr/>
          <p:nvPr/>
        </p:nvSpPr>
        <p:spPr>
          <a:xfrm>
            <a:off x="4754880" y="100584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714203B-29B4-B97A-1AFD-C17A269FFB0F}"/>
              </a:ext>
            </a:extLst>
          </p:cNvPr>
          <p:cNvSpPr/>
          <p:nvPr/>
        </p:nvSpPr>
        <p:spPr>
          <a:xfrm>
            <a:off x="4864608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Docker + K8s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2C0E0D9-5D07-1DC0-D3FC-DA689CB1160C}"/>
              </a:ext>
            </a:extLst>
          </p:cNvPr>
          <p:cNvSpPr/>
          <p:nvPr/>
        </p:nvSpPr>
        <p:spPr>
          <a:xfrm>
            <a:off x="4864608" y="1517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ölçeklenen mikroservisler, self-healing</a:t>
            </a:r>
            <a:endParaRPr lang="en-US" sz="12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7F6363AD-0F38-1D0D-C085-84022488AF72}"/>
              </a:ext>
            </a:extLst>
          </p:cNvPr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7A608A-62A2-795B-4525-E838EFF40A66}"/>
              </a:ext>
            </a:extLst>
          </p:cNvPr>
          <p:cNvSpPr/>
          <p:nvPr/>
        </p:nvSpPr>
        <p:spPr>
          <a:xfrm>
            <a:off x="475488" y="22677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Güvenlik</a:t>
            </a:r>
            <a:endParaRPr lang="en-US" sz="15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DAC4546-830F-40FF-4A68-26EAD753DEFF}"/>
              </a:ext>
            </a:extLst>
          </p:cNvPr>
          <p:cNvSpPr/>
          <p:nvPr/>
        </p:nvSpPr>
        <p:spPr>
          <a:xfrm>
            <a:off x="475488" y="27066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Güvenli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yüksek</a:t>
            </a:r>
            <a:r>
              <a:rPr lang="en-US" sz="1400" dirty="0"/>
              <a:t> </a:t>
            </a:r>
            <a:r>
              <a:rPr lang="en-US" sz="1400" dirty="0" err="1"/>
              <a:t>erişilebilir</a:t>
            </a:r>
            <a:r>
              <a:rPr lang="en-US" sz="1400" dirty="0"/>
              <a:t> </a:t>
            </a:r>
            <a:r>
              <a:rPr lang="en-US" sz="1400" dirty="0" err="1"/>
              <a:t>ağ</a:t>
            </a:r>
            <a:r>
              <a:rPr lang="en-US" sz="1400" dirty="0"/>
              <a:t> </a:t>
            </a:r>
            <a:r>
              <a:rPr lang="en-US" sz="1400" dirty="0" err="1"/>
              <a:t>yapısı</a:t>
            </a:r>
            <a:endParaRPr lang="en-US" sz="14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EEE313B-0705-25FF-66FB-E33DAD09ADFB}"/>
              </a:ext>
            </a:extLst>
          </p:cNvPr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5DFD672-F76B-3D9C-F74B-94091B9C7423}"/>
              </a:ext>
            </a:extLst>
          </p:cNvPr>
          <p:cNvSpPr/>
          <p:nvPr/>
        </p:nvSpPr>
        <p:spPr>
          <a:xfrm>
            <a:off x="4864608" y="22677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Depolama</a:t>
            </a:r>
            <a:endParaRPr lang="en-US" sz="15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D5805C7-54B0-7E89-2555-AB9C051209B9}"/>
              </a:ext>
            </a:extLst>
          </p:cNvPr>
          <p:cNvSpPr/>
          <p:nvPr/>
        </p:nvSpPr>
        <p:spPr>
          <a:xfrm>
            <a:off x="4864608" y="27066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Farklı</a:t>
            </a:r>
            <a:r>
              <a:rPr lang="en-US" sz="1400" dirty="0"/>
              <a:t> </a:t>
            </a:r>
            <a:r>
              <a:rPr lang="en-US" sz="1400" dirty="0" err="1"/>
              <a:t>veri</a:t>
            </a:r>
            <a:r>
              <a:rPr lang="en-US" sz="1400" dirty="0"/>
              <a:t> </a:t>
            </a:r>
            <a:r>
              <a:rPr lang="en-US" sz="1400" dirty="0" err="1"/>
              <a:t>tipleri</a:t>
            </a:r>
            <a:r>
              <a:rPr lang="en-US" sz="1400" dirty="0"/>
              <a:t> </a:t>
            </a:r>
            <a:r>
              <a:rPr lang="en-US" sz="1400" dirty="0" err="1"/>
              <a:t>için</a:t>
            </a:r>
            <a:r>
              <a:rPr lang="en-US" sz="1400" dirty="0"/>
              <a:t> </a:t>
            </a:r>
            <a:r>
              <a:rPr lang="en-US" sz="1400" dirty="0" err="1"/>
              <a:t>uygun</a:t>
            </a:r>
            <a:r>
              <a:rPr lang="en-US" sz="1400" dirty="0"/>
              <a:t> </a:t>
            </a:r>
            <a:r>
              <a:rPr lang="en-US" sz="1400" dirty="0" err="1"/>
              <a:t>depolama</a:t>
            </a:r>
            <a:r>
              <a:rPr lang="en-US" sz="1400" dirty="0"/>
              <a:t> </a:t>
            </a:r>
            <a:r>
              <a:rPr lang="en-US" sz="1400" dirty="0" err="1"/>
              <a:t>yapısı</a:t>
            </a:r>
            <a:endParaRPr lang="en-US" sz="14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CE1A4733-E1BA-0B42-E0A4-8020326B11F5}"/>
              </a:ext>
            </a:extLst>
          </p:cNvPr>
          <p:cNvSpPr/>
          <p:nvPr/>
        </p:nvSpPr>
        <p:spPr>
          <a:xfrm>
            <a:off x="365760" y="338328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5BC10A0-D04E-2E23-06A9-BE4AC02D65B0}"/>
              </a:ext>
            </a:extLst>
          </p:cNvPr>
          <p:cNvSpPr/>
          <p:nvPr/>
        </p:nvSpPr>
        <p:spPr>
          <a:xfrm>
            <a:off x="475488" y="3456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Ağ</a:t>
            </a:r>
            <a:endParaRPr lang="en-US" sz="15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53A1C2CD-B4E0-A7D6-5985-9EFE2836C3A5}"/>
              </a:ext>
            </a:extLst>
          </p:cNvPr>
          <p:cNvSpPr/>
          <p:nvPr/>
        </p:nvSpPr>
        <p:spPr>
          <a:xfrm>
            <a:off x="475488" y="38953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Güvenli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yüksek</a:t>
            </a:r>
            <a:r>
              <a:rPr lang="en-US" sz="1400" dirty="0"/>
              <a:t> </a:t>
            </a:r>
            <a:r>
              <a:rPr lang="en-US" sz="1400" dirty="0" err="1"/>
              <a:t>erişilebilir</a:t>
            </a:r>
            <a:r>
              <a:rPr lang="en-US" sz="1400" dirty="0"/>
              <a:t> </a:t>
            </a:r>
            <a:r>
              <a:rPr lang="en-US" sz="1400" dirty="0" err="1"/>
              <a:t>ağ</a:t>
            </a:r>
            <a:r>
              <a:rPr lang="en-US" sz="1400" dirty="0"/>
              <a:t> </a:t>
            </a:r>
            <a:r>
              <a:rPr lang="en-US" sz="1400" dirty="0" err="1"/>
              <a:t>yapısı</a:t>
            </a:r>
            <a:endParaRPr lang="en-US" sz="14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3F51ECE-89F7-5499-CD50-20A600565320}"/>
              </a:ext>
            </a:extLst>
          </p:cNvPr>
          <p:cNvSpPr/>
          <p:nvPr/>
        </p:nvSpPr>
        <p:spPr>
          <a:xfrm>
            <a:off x="4754880" y="338328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494DF9B-F8F4-F2E6-7466-97501C37567D}"/>
              </a:ext>
            </a:extLst>
          </p:cNvPr>
          <p:cNvSpPr/>
          <p:nvPr/>
        </p:nvSpPr>
        <p:spPr>
          <a:xfrm>
            <a:off x="4864608" y="3456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5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13F77C02-1F1E-6981-8E64-ADCA7AC816D7}"/>
              </a:ext>
            </a:extLst>
          </p:cNvPr>
          <p:cNvSpPr/>
          <p:nvPr/>
        </p:nvSpPr>
        <p:spPr>
          <a:xfrm>
            <a:off x="4864608" y="38953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Event-driven IoT </a:t>
            </a:r>
            <a:r>
              <a:rPr lang="en-US" sz="1400" dirty="0" err="1"/>
              <a:t>işlemleri</a:t>
            </a:r>
            <a:endParaRPr lang="en-US" sz="14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9CBF32A-2CDD-06CA-47F6-A7CA099C003F}"/>
              </a:ext>
            </a:extLst>
          </p:cNvPr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 mimari; ölçeklenebilir, güvenli ve geleceğe hazır bir Akıllı IoT Ev Sistemi sunmaktadır.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65384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959B64D-8F64-86A8-4352-A9EFDF5AEFBC}"/>
              </a:ext>
            </a:extLst>
          </p:cNvPr>
          <p:cNvSpPr/>
          <p:nvPr/>
        </p:nvSpPr>
        <p:spPr>
          <a:xfrm>
            <a:off x="358140" y="1386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52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165A574-718E-4450-0766-CEB8BB40F673}"/>
              </a:ext>
            </a:extLst>
          </p:cNvPr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Rajaa Naeem</a:t>
            </a:r>
            <a:br>
              <a:rPr lang="ar-SY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Abdulber</a:t>
            </a:r>
            <a:r>
              <a:rPr lang="tr-TR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Alsebai</a:t>
            </a:r>
            <a:br>
              <a:rPr lang="tr-TR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Khaled</a:t>
            </a:r>
            <a:r>
              <a:rPr lang="tr-TR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Salam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1406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315</TotalTime>
  <Words>734</Words>
  <Application>Microsoft Office PowerPoint</Application>
  <PresentationFormat>On-screen Show (16:9)</PresentationFormat>
  <Paragraphs>186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IoT Ev Sistemi – Bulut Bilişim Projesi</dc:title>
  <dc:subject>PptxGenJS Presentation</dc:subject>
  <dc:creator>Öğrenci</dc:creator>
  <cp:lastModifiedBy>Abudy AlSibai</cp:lastModifiedBy>
  <cp:revision>5</cp:revision>
  <dcterms:created xsi:type="dcterms:W3CDTF">2026-04-30T18:24:48Z</dcterms:created>
  <dcterms:modified xsi:type="dcterms:W3CDTF">2026-05-12T08:37:33Z</dcterms:modified>
</cp:coreProperties>
</file>